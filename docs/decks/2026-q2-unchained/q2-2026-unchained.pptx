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a:t>Speaker notes · Slide 1 · THESIS (0:00 to 0:45)</a:t>
            </a:r>
          </a:p>
          <a:p>
            <a:pPr algn="l"/>
            <a:r>
              <a:rPr sz="1100"/>
              <a:t>Open heavy. Let the words land. This is the first time you're saying it to the team.</a:t>
            </a:r>
          </a:p>
          <a:p>
            <a:pPr algn="l"/>
            <a:r>
              <a:rPr sz="1100"/>
              <a:t>"Four words."</a:t>
            </a:r>
          </a:p>
          <a:p>
            <a:pPr algn="l"/>
            <a:r>
              <a:rPr sz="1100"/>
              <a:t>[pause]</a:t>
            </a:r>
          </a:p>
          <a:p>
            <a:pPr algn="l"/>
            <a:r>
              <a:rPr sz="1100"/>
              <a:t>"Eliminate Risk. Increase Opportunity."</a:t>
            </a:r>
          </a:p>
          <a:p>
            <a:pPr algn="l"/>
            <a:r>
              <a:rPr sz="1100"/>
              <a:t>"For 8 months we've been building this team around those four words. Every investment we make. Every hire. Every tool. Every piece of training. Every system we ship. All of it rolls up to this."</a:t>
            </a:r>
          </a:p>
          <a:p>
            <a:pPr algn="l"/>
            <a:r>
              <a:rPr sz="1100"/>
              <a:t>"And today is the first time I'm saying it out loud to you."</a:t>
            </a:r>
          </a:p>
          <a:p>
            <a:pPr algn="l"/>
            <a:r>
              <a:rPr sz="1100"/>
              <a:t>"For the next 10 minutes I want to walk through what that actually means. For this team. For every one of you. And what we're doing next to make it sharper."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a:t>Speaker notes · Slide 2 · SHARPER EVERY QUARTER (0:45 to 2:15)</a:t>
            </a:r>
          </a:p>
          <a:p>
            <a:pPr algn="l"/>
            <a:r>
              <a:rPr sz="1100"/>
              <a:t>Open with recognition. Slow. Genuine. Everyone gets credit. No promise, just the commitment.</a:t>
            </a:r>
          </a:p>
          <a:p>
            <a:pPr algn="l"/>
            <a:r>
              <a:rPr sz="1100"/>
              <a:t>"Before we get into what's next I want to take a second."</a:t>
            </a:r>
          </a:p>
          <a:p>
            <a:pPr algn="l"/>
            <a:r>
              <a:rPr sz="1100"/>
              <a:t>"Last quarter we were named the number one large team at Real Broker in Canada. 6 months. 6 months from a major merger to number one in the country."</a:t>
            </a:r>
          </a:p>
          <a:p>
            <a:pPr algn="l"/>
            <a:r>
              <a:rPr sz="1100"/>
              <a:t>"I want to recognize every single person who made that happen. The Realtors out there closing deals and taking care of clients. The Ops team keeping the engine running. Marketing building the brand that opens doors before we walk through them."</a:t>
            </a:r>
          </a:p>
          <a:p>
            <a:pPr algn="l"/>
            <a:r>
              <a:rPr sz="1100"/>
              <a:t>"Every one of you showed up. Through a lot of change. It wasn't perfect. Not at all. But together, it worked."</a:t>
            </a:r>
          </a:p>
          <a:p>
            <a:pPr algn="l"/>
            <a:r>
              <a:rPr sz="1100"/>
              <a:t>"And there's one goal that drives everything we do from here. Sharper every quarter. Better every day. Delivering for this team."</a:t>
            </a:r>
          </a:p>
          <a:p>
            <a:pPr algn="l"/>
            <a:r>
              <a:rPr sz="1100"/>
              <a:t>"Lead Gen. Ops. Coaching. Marketing. Wealth Paths. That's what gets sharper every quarter. That's what delivers for the team."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a:t>Speaker notes · Slide 3 · UNCHAINED (2:15 to 3:30)</a:t>
            </a:r>
          </a:p>
          <a:p>
            <a:pPr algn="l"/>
            <a:r>
              <a:rPr sz="1100"/>
              <a:t>Cause and effect. Personal pronouns. Your risk. Your opportunity. Your time.</a:t>
            </a:r>
          </a:p>
          <a:p>
            <a:pPr algn="l"/>
            <a:r>
              <a:rPr sz="1100"/>
              <a:t>"Eliminate Risk. Increase Opportunity."</a:t>
            </a:r>
          </a:p>
          <a:p>
            <a:pPr algn="l"/>
            <a:r>
              <a:rPr sz="1100"/>
              <a:t>[pause]</a:t>
            </a:r>
          </a:p>
          <a:p>
            <a:pPr algn="l"/>
            <a:r>
              <a:rPr sz="1100"/>
              <a:t>"When it all comes together, it leads to something more. It leads to becoming unchained."</a:t>
            </a:r>
          </a:p>
          <a:p>
            <a:pPr algn="l"/>
            <a:r>
              <a:rPr sz="1100"/>
              <a:t>"Unchained from admin. From compliance. From having to do everything yourself. Free to do the work only a great agent can do. Free to show up for the life you built this career for."</a:t>
            </a:r>
          </a:p>
          <a:p>
            <a:pPr algn="l"/>
            <a:r>
              <a:rPr sz="1100"/>
              <a:t>"That's what drives us every single day. Eliminate your risk. Increase your opportunity. Unchain you from the work that pulls you away from what moves the needle. Your time is yours. More growth. More family. More hobbies. More of the life you're building."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a:t>Speaker notes · Slide 4 · THE STACK (3:30 to 4:45)</a:t>
            </a:r>
          </a:p>
          <a:p>
            <a:pPr algn="l"/>
            <a:r>
              <a:rPr sz="1100"/>
              <a:t>Walk the stack bottom up. This is how the whole story connects.</a:t>
            </a:r>
          </a:p>
          <a:p>
            <a:pPr algn="l"/>
            <a:r>
              <a:rPr sz="1100"/>
              <a:t>"Here's how it all comes together. Read it from the bottom up."</a:t>
            </a:r>
          </a:p>
          <a:p>
            <a:pPr algn="l"/>
            <a:r>
              <a:rPr sz="1100"/>
              <a:t>"The promise. Every decision we make rolls up to four words. Eliminate Risk. Increase Opportunity."</a:t>
            </a:r>
          </a:p>
          <a:p>
            <a:pPr algn="l"/>
            <a:r>
              <a:rPr sz="1100"/>
              <a:t>"Delivered by two foundations. Benson Crew is the execution engine. Real Brokerage is the platform of possibility that powers us to do our business and drive new financial opportunities. Two pillars of freedom behind every move you make."</a:t>
            </a:r>
          </a:p>
          <a:p>
            <a:pPr algn="l"/>
            <a:r>
              <a:rPr sz="1100"/>
              <a:t>"Which gives you five pillars of support. Lead Gen. Ops. Coaching. Marketing. Wealth Paths. That's what Eliminate Risk and Increase Opportunity looks like when it's put to work for you."</a:t>
            </a:r>
          </a:p>
          <a:p>
            <a:pPr algn="l"/>
            <a:r>
              <a:rPr sz="1100"/>
              <a:t>"Which leaves you free to focus on the three things that matter."</a:t>
            </a:r>
          </a:p>
          <a:p>
            <a:pPr algn="l"/>
            <a:r>
              <a:rPr sz="1100"/>
              <a:t>[pause]</a:t>
            </a:r>
          </a:p>
          <a:p>
            <a:pPr algn="l"/>
            <a:r>
              <a:rPr sz="1100"/>
              <a:t>"Prospect. Close. 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a:t>Speaker notes · Slide 5 · AI CLOSES THE GAP (4:45 to 7:00)</a:t>
            </a:r>
          </a:p>
          <a:p>
            <a:pPr algn="l"/>
            <a:r>
              <a:rPr sz="1100"/>
              <a:t>This is the magic slide. Open with the setup. Then slow down and let them picture it. Energy up.</a:t>
            </a:r>
          </a:p>
          <a:p>
            <a:pPr algn="l"/>
            <a:r>
              <a:rPr sz="1100"/>
              <a:t>"Here's the next pillar we're working on tirelessly right now. The AI pillar."</a:t>
            </a:r>
          </a:p>
          <a:p>
            <a:pPr algn="l"/>
            <a:r>
              <a:rPr sz="1100"/>
              <a:t>"Imagine this. Your own AI. And it knows every one of your numbers. Every lead in Follow Up Boss. Every training video in Skool. Every meeting you take. Every email thread. Every goal you set."</a:t>
            </a:r>
          </a:p>
          <a:p>
            <a:pPr algn="l"/>
            <a:r>
              <a:rPr sz="1100"/>
              <a:t>"Now imagine it's always running. Always looking ahead. Always asking the same question. Where is this agent's gap and how do I help them close it."</a:t>
            </a:r>
          </a:p>
          <a:p>
            <a:pPr algn="l"/>
            <a:r>
              <a:rPr sz="1100"/>
              <a:t>"That's what we're building. Your own AI. Connected to the tools we already use. It pulls up what you need, when you need it. It takes action in those tools for you. It closes gaps. And it helps you surpass your goals."</a:t>
            </a:r>
          </a:p>
          <a:p>
            <a:pPr algn="l"/>
            <a:r>
              <a:rPr sz="1100"/>
              <a:t>"Lead going cold? It nudges you. Deal has a problem? It flags it. Pace slipping? It surfaces strategies to close the gap. Helps you execute. Holds you accountable. Walking into a listing presentation? It preps the brief before you get there."</a:t>
            </a:r>
          </a:p>
          <a:p>
            <a:pPr algn="l"/>
            <a:r>
              <a:rPr sz="1100"/>
              <a:t>"You ask it anything, anytime. Phone, dashboard, Telegram. Wherever you work, AI works with you."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a:t>Speaker notes · Slide 6 · WHAT IT ADDS UP TO (7:00 to 8:30)</a:t>
            </a:r>
          </a:p>
          <a:p>
            <a:pPr algn="l"/>
            <a:r>
              <a:rPr sz="1100"/>
              <a:t>Personal. One team. First person plural. About selling homes.</a:t>
            </a:r>
          </a:p>
          <a:p>
            <a:pPr algn="l"/>
            <a:r>
              <a:rPr sz="1100"/>
              <a:t>"Stack it all together. What does it mean for us?"</a:t>
            </a:r>
          </a:p>
          <a:p>
            <a:pPr algn="l"/>
            <a:r>
              <a:rPr sz="1100"/>
              <a:t>"Time. Time for the three things that grow a business. And time for the reason we went into this in the first place. Family. Health. Hobbies. A life that isn't all work."</a:t>
            </a:r>
          </a:p>
          <a:p>
            <a:pPr algn="l"/>
            <a:r>
              <a:rPr sz="1100"/>
              <a:t>"Better leads. Sharper follow up. Cleaner numbers. A business that builds on itself. Every year sharper than the last."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100"/>
              <a:t>Speaker notes · Slide 7 · TOGETHER. UNCHAINED. (8:30 to 10:00)</a:t>
            </a:r>
          </a:p>
          <a:p>
            <a:pPr algn="l"/>
            <a:r>
              <a:rPr sz="1100"/>
              <a:t>Plain. Direct. No cringe.</a:t>
            </a:r>
          </a:p>
          <a:p>
            <a:pPr algn="l"/>
            <a:r>
              <a:rPr sz="1100"/>
              <a:t>"Going into Q2 we keep pushing."</a:t>
            </a:r>
          </a:p>
          <a:p>
            <a:pPr algn="l"/>
            <a:r>
              <a:rPr sz="1100"/>
              <a:t>"We keep building what the team needs. Shipping. Listening. Investing. Every tool, every system, every hire. All pointed at giving the team more leverage than any agent working alone."</a:t>
            </a:r>
          </a:p>
          <a:p>
            <a:pPr algn="l"/>
            <a:r>
              <a:rPr sz="1100"/>
              <a:t>"And it only works when every one of us keeps bringing it. Showing up. Putting it to work. Telling us what's missing."</a:t>
            </a:r>
          </a:p>
          <a:p>
            <a:pPr algn="l"/>
            <a:r>
              <a:rPr sz="1100"/>
              <a:t>"Thanks for everything you bring. Really looking forward to keep building this with all of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822960"/>
            <a:ext cx="7315200" cy="274320"/>
          </a:xfrm>
          <a:prstGeom prst="rect">
            <a:avLst/>
          </a:prstGeom>
          <a:noFill/>
        </p:spPr>
        <p:txBody>
          <a:bodyPr wrap="square" anchor="t" lIns="0" rIns="0" tIns="0" bIns="0">
            <a:spAutoFit/>
          </a:bodyPr>
          <a:lstStyle/>
          <a:p>
            <a:pPr algn="l"/>
            <a:r>
              <a:rPr sz="1200" b="1">
                <a:solidFill>
                  <a:srgbClr val="0084C9"/>
                </a:solidFill>
                <a:latin typeface="Arial Black"/>
              </a:rPr>
              <a:t>QUARTERLY MEETING  ·  Q2 2026</a:t>
            </a:r>
          </a:p>
        </p:txBody>
      </p:sp>
      <p:sp>
        <p:nvSpPr>
          <p:cNvPr id="4" name="TextBox 3"/>
          <p:cNvSpPr txBox="1"/>
          <p:nvPr/>
        </p:nvSpPr>
        <p:spPr>
          <a:xfrm>
            <a:off x="10058400" y="548640"/>
            <a:ext cx="1828800" cy="365760"/>
          </a:xfrm>
          <a:prstGeom prst="rect">
            <a:avLst/>
          </a:prstGeom>
          <a:noFill/>
        </p:spPr>
        <p:txBody>
          <a:bodyPr wrap="square" anchor="t" lIns="0" rIns="0" tIns="0" bIns="0">
            <a:spAutoFit/>
          </a:bodyPr>
          <a:lstStyle/>
          <a:p>
            <a:pPr algn="r"/>
            <a:r>
              <a:rPr sz="1300" b="1">
                <a:solidFill>
                  <a:srgbClr val="FFFFFF"/>
                </a:solidFill>
                <a:latin typeface="Arial Black"/>
              </a:rPr>
              <a:t>BENSON CREW</a:t>
            </a:r>
          </a:p>
        </p:txBody>
      </p:sp>
      <p:sp>
        <p:nvSpPr>
          <p:cNvPr id="5" name="TextBox 4"/>
          <p:cNvSpPr txBox="1"/>
          <p:nvPr/>
        </p:nvSpPr>
        <p:spPr>
          <a:xfrm>
            <a:off x="685800" y="2011680"/>
            <a:ext cx="10972800" cy="2926080"/>
          </a:xfrm>
          <a:prstGeom prst="rect">
            <a:avLst/>
          </a:prstGeom>
          <a:noFill/>
        </p:spPr>
        <p:txBody>
          <a:bodyPr wrap="square" anchor="t" lIns="0" rIns="0" tIns="0" bIns="0">
            <a:spAutoFit/>
          </a:bodyPr>
          <a:lstStyle/>
          <a:p>
            <a:pPr algn="l">
              <a:lnSpc>
                <a:spcPct val="100000"/>
              </a:lnSpc>
            </a:pPr>
            <a:r>
              <a:rPr sz="7200" b="1">
                <a:solidFill>
                  <a:srgbClr val="FFFFFF"/>
                </a:solidFill>
                <a:latin typeface="Arial Black"/>
              </a:rPr>
              <a:t>ELIMINATE RISK.</a:t>
            </a:r>
          </a:p>
          <a:p>
            <a:pPr algn="l">
              <a:lnSpc>
                <a:spcPct val="100000"/>
              </a:lnSpc>
            </a:pPr>
            <a:r>
              <a:rPr sz="7200" b="1">
                <a:solidFill>
                  <a:srgbClr val="0084C9"/>
                </a:solidFill>
                <a:latin typeface="Arial Black"/>
              </a:rPr>
              <a:t>INCREASE OPPORTUNITY.</a:t>
            </a:r>
          </a:p>
        </p:txBody>
      </p:sp>
      <p:sp>
        <p:nvSpPr>
          <p:cNvPr id="6" name="TextBox 5"/>
          <p:cNvSpPr txBox="1"/>
          <p:nvPr/>
        </p:nvSpPr>
        <p:spPr>
          <a:xfrm>
            <a:off x="685800" y="5029200"/>
            <a:ext cx="10058400" cy="914400"/>
          </a:xfrm>
          <a:prstGeom prst="rect">
            <a:avLst/>
          </a:prstGeom>
          <a:noFill/>
        </p:spPr>
        <p:txBody>
          <a:bodyPr wrap="square" anchor="t" lIns="0" rIns="0" tIns="0" bIns="0">
            <a:spAutoFit/>
          </a:bodyPr>
          <a:lstStyle/>
          <a:p>
            <a:pPr algn="l"/>
            <a:r>
              <a:rPr sz="1800" b="0">
                <a:solidFill>
                  <a:srgbClr val="EBEBEB"/>
                </a:solidFill>
                <a:latin typeface="Open Sans"/>
              </a:rPr>
              <a:t>For 8 months we've been working on this. Today is the first time we say it out loud.</a:t>
            </a:r>
          </a:p>
        </p:txBody>
      </p:sp>
      <p:sp>
        <p:nvSpPr>
          <p:cNvPr id="7" name="Rectangle 6"/>
          <p:cNvSpPr/>
          <p:nvPr/>
        </p:nvSpPr>
        <p:spPr>
          <a:xfrm>
            <a:off x="457200" y="6446520"/>
            <a:ext cx="320040" cy="36576"/>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6400800"/>
            <a:ext cx="10972800" cy="274320"/>
          </a:xfrm>
          <a:prstGeom prst="rect">
            <a:avLst/>
          </a:prstGeom>
          <a:noFill/>
        </p:spPr>
        <p:txBody>
          <a:bodyPr wrap="square" anchor="ctr" lIns="0" rIns="0" tIns="0" bIns="0">
            <a:spAutoFit/>
          </a:bodyPr>
          <a:lstStyle/>
          <a:p>
            <a:pPr algn="r"/>
            <a:r>
              <a:rPr sz="800" b="1">
                <a:solidFill>
                  <a:srgbClr val="0084C9"/>
                </a:solidFill>
                <a:latin typeface="Arial Black"/>
              </a:rPr>
              <a:t>BENSON CREW  ·  Q2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7315200" cy="274320"/>
          </a:xfrm>
          <a:prstGeom prst="rect">
            <a:avLst/>
          </a:prstGeom>
          <a:noFill/>
        </p:spPr>
        <p:txBody>
          <a:bodyPr wrap="square" anchor="t" lIns="0" rIns="0" tIns="0" bIns="0">
            <a:spAutoFit/>
          </a:bodyPr>
          <a:lstStyle/>
          <a:p>
            <a:pPr algn="l"/>
            <a:r>
              <a:rPr sz="1100" b="1">
                <a:solidFill>
                  <a:srgbClr val="0084C9"/>
                </a:solidFill>
                <a:latin typeface="Arial Black"/>
              </a:rPr>
              <a:t>THE TEAM THAT GOT US HERE</a:t>
            </a:r>
          </a:p>
        </p:txBody>
      </p:sp>
      <p:sp>
        <p:nvSpPr>
          <p:cNvPr id="4" name="TextBox 3"/>
          <p:cNvSpPr txBox="1"/>
          <p:nvPr/>
        </p:nvSpPr>
        <p:spPr>
          <a:xfrm>
            <a:off x="685800" y="1005840"/>
            <a:ext cx="10972800" cy="2194560"/>
          </a:xfrm>
          <a:prstGeom prst="rect">
            <a:avLst/>
          </a:prstGeom>
          <a:noFill/>
        </p:spPr>
        <p:txBody>
          <a:bodyPr wrap="square" anchor="t" lIns="0" rIns="0" tIns="0" bIns="0">
            <a:spAutoFit/>
          </a:bodyPr>
          <a:lstStyle/>
          <a:p>
            <a:pPr algn="l">
              <a:lnSpc>
                <a:spcPct val="100000"/>
              </a:lnSpc>
            </a:pPr>
            <a:r>
              <a:rPr sz="5600" b="1">
                <a:solidFill>
                  <a:srgbClr val="000000"/>
                </a:solidFill>
                <a:latin typeface="Arial Black"/>
              </a:rPr>
              <a:t>SHARPER EVERY QUARTER.</a:t>
            </a:r>
          </a:p>
          <a:p>
            <a:pPr algn="l">
              <a:lnSpc>
                <a:spcPct val="100000"/>
              </a:lnSpc>
            </a:pPr>
            <a:r>
              <a:rPr sz="5600" b="1">
                <a:solidFill>
                  <a:srgbClr val="0084C9"/>
                </a:solidFill>
                <a:latin typeface="Arial Black"/>
              </a:rPr>
              <a:t>BETTER EVERY DAY.</a:t>
            </a:r>
          </a:p>
        </p:txBody>
      </p:sp>
      <p:sp>
        <p:nvSpPr>
          <p:cNvPr id="5" name="TextBox 4"/>
          <p:cNvSpPr txBox="1"/>
          <p:nvPr/>
        </p:nvSpPr>
        <p:spPr>
          <a:xfrm>
            <a:off x="685800" y="3200400"/>
            <a:ext cx="10058400" cy="548640"/>
          </a:xfrm>
          <a:prstGeom prst="rect">
            <a:avLst/>
          </a:prstGeom>
          <a:noFill/>
        </p:spPr>
        <p:txBody>
          <a:bodyPr wrap="square" anchor="t" lIns="0" rIns="0" tIns="0" bIns="0">
            <a:spAutoFit/>
          </a:bodyPr>
          <a:lstStyle/>
          <a:p>
            <a:pPr algn="l"/>
            <a:r>
              <a:rPr sz="1800" b="1">
                <a:solidFill>
                  <a:srgbClr val="000000"/>
                </a:solidFill>
                <a:latin typeface="Open Sans"/>
              </a:rPr>
              <a:t>6 months after a major merger, we were named the #1 large team at Real Broker in Canada.</a:t>
            </a:r>
          </a:p>
        </p:txBody>
      </p:sp>
      <p:sp>
        <p:nvSpPr>
          <p:cNvPr id="6" name="TextBox 5"/>
          <p:cNvSpPr txBox="1"/>
          <p:nvPr/>
        </p:nvSpPr>
        <p:spPr>
          <a:xfrm>
            <a:off x="685800" y="3840480"/>
            <a:ext cx="10058400" cy="640080"/>
          </a:xfrm>
          <a:prstGeom prst="rect">
            <a:avLst/>
          </a:prstGeom>
          <a:noFill/>
        </p:spPr>
        <p:txBody>
          <a:bodyPr wrap="square" anchor="t" lIns="0" rIns="0" tIns="0" bIns="0">
            <a:spAutoFit/>
          </a:bodyPr>
          <a:lstStyle/>
          <a:p>
            <a:pPr algn="l"/>
            <a:r>
              <a:rPr sz="1400" b="0">
                <a:solidFill>
                  <a:srgbClr val="374151"/>
                </a:solidFill>
                <a:latin typeface="Open Sans"/>
              </a:rPr>
              <a:t>Realtors. Ops. Marketing. Every one of us showed up. A lot of change. It wasn't perfect. But together, it worked.</a:t>
            </a:r>
          </a:p>
        </p:txBody>
      </p:sp>
      <p:sp>
        <p:nvSpPr>
          <p:cNvPr id="7" name="Rounded Rectangle 6"/>
          <p:cNvSpPr/>
          <p:nvPr/>
        </p:nvSpPr>
        <p:spPr>
          <a:xfrm>
            <a:off x="685800" y="4663440"/>
            <a:ext cx="1920240" cy="438912"/>
          </a:xfrm>
          <a:prstGeom prst="roundRect">
            <a:avLst>
              <a:gd name="adj" fmla="val 1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Black"/>
              </a:rPr>
              <a:t>LEAD GEN</a:t>
            </a:r>
          </a:p>
        </p:txBody>
      </p:sp>
      <p:sp>
        <p:nvSpPr>
          <p:cNvPr id="8" name="Rounded Rectangle 7"/>
          <p:cNvSpPr/>
          <p:nvPr/>
        </p:nvSpPr>
        <p:spPr>
          <a:xfrm>
            <a:off x="2715768" y="4663440"/>
            <a:ext cx="1920240" cy="438912"/>
          </a:xfrm>
          <a:prstGeom prst="roundRect">
            <a:avLst>
              <a:gd name="adj" fmla="val 1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Black"/>
              </a:rPr>
              <a:t>OPS</a:t>
            </a:r>
          </a:p>
        </p:txBody>
      </p:sp>
      <p:sp>
        <p:nvSpPr>
          <p:cNvPr id="9" name="Rounded Rectangle 8"/>
          <p:cNvSpPr/>
          <p:nvPr/>
        </p:nvSpPr>
        <p:spPr>
          <a:xfrm>
            <a:off x="4745736" y="4663440"/>
            <a:ext cx="1920240" cy="438912"/>
          </a:xfrm>
          <a:prstGeom prst="roundRect">
            <a:avLst>
              <a:gd name="adj" fmla="val 15000"/>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Black"/>
              </a:rPr>
              <a:t>COACHING</a:t>
            </a:r>
          </a:p>
        </p:txBody>
      </p:sp>
      <p:sp>
        <p:nvSpPr>
          <p:cNvPr id="10" name="Rounded Rectangle 9"/>
          <p:cNvSpPr/>
          <p:nvPr/>
        </p:nvSpPr>
        <p:spPr>
          <a:xfrm>
            <a:off x="6775704" y="4663440"/>
            <a:ext cx="1920240" cy="438912"/>
          </a:xfrm>
          <a:prstGeom prst="roundRect">
            <a:avLst>
              <a:gd name="adj" fmla="val 1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Black"/>
              </a:rPr>
              <a:t>MARKETING</a:t>
            </a:r>
          </a:p>
        </p:txBody>
      </p:sp>
      <p:sp>
        <p:nvSpPr>
          <p:cNvPr id="11" name="Rounded Rectangle 10"/>
          <p:cNvSpPr/>
          <p:nvPr/>
        </p:nvSpPr>
        <p:spPr>
          <a:xfrm>
            <a:off x="8805672" y="4663440"/>
            <a:ext cx="1920240" cy="438912"/>
          </a:xfrm>
          <a:prstGeom prst="roundRect">
            <a:avLst>
              <a:gd name="adj" fmla="val 15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Black"/>
              </a:rPr>
              <a:t>WEALTH PATHS</a:t>
            </a:r>
          </a:p>
        </p:txBody>
      </p:sp>
      <p:sp>
        <p:nvSpPr>
          <p:cNvPr id="12" name="TextBox 11"/>
          <p:cNvSpPr txBox="1"/>
          <p:nvPr/>
        </p:nvSpPr>
        <p:spPr>
          <a:xfrm>
            <a:off x="685800" y="5440680"/>
            <a:ext cx="10058400" cy="457200"/>
          </a:xfrm>
          <a:prstGeom prst="rect">
            <a:avLst/>
          </a:prstGeom>
          <a:noFill/>
        </p:spPr>
        <p:txBody>
          <a:bodyPr wrap="square" anchor="t" lIns="0" rIns="0" tIns="0" bIns="0">
            <a:spAutoFit/>
          </a:bodyPr>
          <a:lstStyle/>
          <a:p>
            <a:pPr algn="l"/>
            <a:r>
              <a:rPr sz="1600" b="1">
                <a:solidFill>
                  <a:srgbClr val="000000"/>
                </a:solidFill>
                <a:latin typeface="Arial Black"/>
              </a:rPr>
              <a:t>One goal drives us. </a:t>
            </a:r>
            <a:r>
              <a:rPr sz="1600" b="1">
                <a:solidFill>
                  <a:srgbClr val="0084C9"/>
                </a:solidFill>
                <a:latin typeface="Arial Black"/>
              </a:rPr>
              <a:t>Deliver for the team.</a:t>
            </a:r>
          </a:p>
        </p:txBody>
      </p:sp>
      <p:sp>
        <p:nvSpPr>
          <p:cNvPr id="13" name="Rectangle 12"/>
          <p:cNvSpPr/>
          <p:nvPr/>
        </p:nvSpPr>
        <p:spPr>
          <a:xfrm>
            <a:off x="457200" y="6446520"/>
            <a:ext cx="320040" cy="36576"/>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400800"/>
            <a:ext cx="10972800" cy="274320"/>
          </a:xfrm>
          <a:prstGeom prst="rect">
            <a:avLst/>
          </a:prstGeom>
          <a:noFill/>
        </p:spPr>
        <p:txBody>
          <a:bodyPr wrap="square" anchor="ctr" lIns="0" rIns="0" tIns="0" bIns="0">
            <a:spAutoFit/>
          </a:bodyPr>
          <a:lstStyle/>
          <a:p>
            <a:pPr algn="r"/>
            <a:r>
              <a:rPr sz="800" b="1">
                <a:solidFill>
                  <a:srgbClr val="0084C9"/>
                </a:solidFill>
                <a:latin typeface="Arial Black"/>
              </a:rPr>
              <a:t>BENSON CREW  ·  Q2 2026  ·  ELIMINATE RISK. INCREASE OPPORTUNITY.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822960"/>
            <a:ext cx="7315200" cy="274320"/>
          </a:xfrm>
          <a:prstGeom prst="rect">
            <a:avLst/>
          </a:prstGeom>
          <a:noFill/>
        </p:spPr>
        <p:txBody>
          <a:bodyPr wrap="square" anchor="t" lIns="0" rIns="0" tIns="0" bIns="0">
            <a:spAutoFit/>
          </a:bodyPr>
          <a:lstStyle/>
          <a:p>
            <a:pPr algn="l"/>
            <a:r>
              <a:rPr sz="1200" b="1">
                <a:solidFill>
                  <a:srgbClr val="0084C9"/>
                </a:solidFill>
                <a:latin typeface="Arial Black"/>
              </a:rPr>
              <a:t>WHERE IT ALL LEADS</a:t>
            </a:r>
          </a:p>
        </p:txBody>
      </p:sp>
      <p:sp>
        <p:nvSpPr>
          <p:cNvPr id="4" name="TextBox 3"/>
          <p:cNvSpPr txBox="1"/>
          <p:nvPr/>
        </p:nvSpPr>
        <p:spPr>
          <a:xfrm>
            <a:off x="10058400" y="548640"/>
            <a:ext cx="1828800" cy="365760"/>
          </a:xfrm>
          <a:prstGeom prst="rect">
            <a:avLst/>
          </a:prstGeom>
          <a:noFill/>
        </p:spPr>
        <p:txBody>
          <a:bodyPr wrap="square" anchor="t" lIns="0" rIns="0" tIns="0" bIns="0">
            <a:spAutoFit/>
          </a:bodyPr>
          <a:lstStyle/>
          <a:p>
            <a:pPr algn="r"/>
            <a:r>
              <a:rPr sz="1300" b="1">
                <a:solidFill>
                  <a:srgbClr val="FFFFFF"/>
                </a:solidFill>
                <a:latin typeface="Arial Black"/>
              </a:rPr>
              <a:t>BENSON CREW</a:t>
            </a:r>
          </a:p>
        </p:txBody>
      </p:sp>
      <p:sp>
        <p:nvSpPr>
          <p:cNvPr id="5" name="TextBox 4"/>
          <p:cNvSpPr txBox="1"/>
          <p:nvPr/>
        </p:nvSpPr>
        <p:spPr>
          <a:xfrm>
            <a:off x="685800" y="1645920"/>
            <a:ext cx="10972800" cy="2743200"/>
          </a:xfrm>
          <a:prstGeom prst="rect">
            <a:avLst/>
          </a:prstGeom>
          <a:noFill/>
        </p:spPr>
        <p:txBody>
          <a:bodyPr wrap="square" anchor="t" lIns="0" rIns="0" tIns="0" bIns="0">
            <a:spAutoFit/>
          </a:bodyPr>
          <a:lstStyle/>
          <a:p>
            <a:pPr algn="l">
              <a:lnSpc>
                <a:spcPct val="100000"/>
              </a:lnSpc>
            </a:pPr>
            <a:r>
              <a:rPr sz="14000" b="1">
                <a:solidFill>
                  <a:srgbClr val="FFFFFF"/>
                </a:solidFill>
                <a:latin typeface="Arial Black"/>
              </a:rPr>
              <a:t>UNCHAINED</a:t>
            </a:r>
            <a:r>
              <a:rPr sz="14000" b="1">
                <a:solidFill>
                  <a:srgbClr val="0084C9"/>
                </a:solidFill>
                <a:latin typeface="Arial Black"/>
              </a:rPr>
              <a:t>.</a:t>
            </a:r>
          </a:p>
        </p:txBody>
      </p:sp>
      <p:sp>
        <p:nvSpPr>
          <p:cNvPr id="6" name="TextBox 5"/>
          <p:cNvSpPr txBox="1"/>
          <p:nvPr/>
        </p:nvSpPr>
        <p:spPr>
          <a:xfrm>
            <a:off x="685800" y="5029200"/>
            <a:ext cx="10058400" cy="914400"/>
          </a:xfrm>
          <a:prstGeom prst="rect">
            <a:avLst/>
          </a:prstGeom>
          <a:noFill/>
        </p:spPr>
        <p:txBody>
          <a:bodyPr wrap="square" anchor="t" lIns="0" rIns="0" tIns="0" bIns="0">
            <a:spAutoFit/>
          </a:bodyPr>
          <a:lstStyle/>
          <a:p>
            <a:pPr algn="l"/>
            <a:r>
              <a:rPr sz="1800" b="0">
                <a:solidFill>
                  <a:srgbClr val="EBEBEB"/>
                </a:solidFill>
                <a:latin typeface="Open Sans"/>
              </a:rPr>
              <a:t>Eliminate Risk. Increase Opportunity. When it all comes together, it leads to something more.</a:t>
            </a:r>
          </a:p>
        </p:txBody>
      </p:sp>
      <p:sp>
        <p:nvSpPr>
          <p:cNvPr id="7" name="Rectangle 6"/>
          <p:cNvSpPr/>
          <p:nvPr/>
        </p:nvSpPr>
        <p:spPr>
          <a:xfrm>
            <a:off x="457200" y="6446520"/>
            <a:ext cx="320040" cy="36576"/>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6400800"/>
            <a:ext cx="10972800" cy="274320"/>
          </a:xfrm>
          <a:prstGeom prst="rect">
            <a:avLst/>
          </a:prstGeom>
          <a:noFill/>
        </p:spPr>
        <p:txBody>
          <a:bodyPr wrap="square" anchor="ctr" lIns="0" rIns="0" tIns="0" bIns="0">
            <a:spAutoFit/>
          </a:bodyPr>
          <a:lstStyle/>
          <a:p>
            <a:pPr algn="r"/>
            <a:r>
              <a:rPr sz="800" b="1">
                <a:solidFill>
                  <a:srgbClr val="0084C9"/>
                </a:solidFill>
                <a:latin typeface="Arial Black"/>
              </a:rPr>
              <a:t>BENSON CREW  ·  Q2 2026  ·  ELIMINATE RISK. INCREASE OPPORTUNITY.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7315200" cy="274320"/>
          </a:xfrm>
          <a:prstGeom prst="rect">
            <a:avLst/>
          </a:prstGeom>
          <a:noFill/>
        </p:spPr>
        <p:txBody>
          <a:bodyPr wrap="square" anchor="t" lIns="0" rIns="0" tIns="0" bIns="0">
            <a:spAutoFit/>
          </a:bodyPr>
          <a:lstStyle/>
          <a:p>
            <a:pPr algn="l"/>
            <a:r>
              <a:rPr sz="1100" b="1">
                <a:solidFill>
                  <a:srgbClr val="0084C9"/>
                </a:solidFill>
                <a:latin typeface="Arial Black"/>
              </a:rPr>
              <a:t>PILLARS OF FREEDOM</a:t>
            </a:r>
          </a:p>
        </p:txBody>
      </p:sp>
      <p:sp>
        <p:nvSpPr>
          <p:cNvPr id="4" name="TextBox 3"/>
          <p:cNvSpPr txBox="1"/>
          <p:nvPr/>
        </p:nvSpPr>
        <p:spPr>
          <a:xfrm>
            <a:off x="685800" y="868680"/>
            <a:ext cx="10972800" cy="1097280"/>
          </a:xfrm>
          <a:prstGeom prst="rect">
            <a:avLst/>
          </a:prstGeom>
          <a:noFill/>
        </p:spPr>
        <p:txBody>
          <a:bodyPr wrap="square" anchor="t" lIns="0" rIns="0" tIns="0" bIns="0">
            <a:spAutoFit/>
          </a:bodyPr>
          <a:lstStyle/>
          <a:p>
            <a:pPr algn="l">
              <a:lnSpc>
                <a:spcPct val="100000"/>
              </a:lnSpc>
            </a:pPr>
            <a:r>
              <a:rPr sz="3600" b="1">
                <a:solidFill>
                  <a:srgbClr val="000000"/>
                </a:solidFill>
                <a:latin typeface="Arial Black"/>
              </a:rPr>
              <a:t>HERE'S HOW IT ALL CONNECTS FOR </a:t>
            </a:r>
            <a:r>
              <a:rPr sz="3600" b="1">
                <a:solidFill>
                  <a:srgbClr val="0084C9"/>
                </a:solidFill>
                <a:latin typeface="Arial Black"/>
              </a:rPr>
              <a:t>YOU.</a:t>
            </a:r>
          </a:p>
        </p:txBody>
      </p:sp>
      <p:sp>
        <p:nvSpPr>
          <p:cNvPr id="5" name="Rectangle 4"/>
          <p:cNvSpPr/>
          <p:nvPr/>
        </p:nvSpPr>
        <p:spPr>
          <a:xfrm>
            <a:off x="685800" y="2103120"/>
            <a:ext cx="10789920" cy="640080"/>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03120"/>
            <a:ext cx="2011680" cy="640080"/>
          </a:xfrm>
          <a:prstGeom prst="rect">
            <a:avLst/>
          </a:prstGeom>
          <a:noFill/>
        </p:spPr>
        <p:txBody>
          <a:bodyPr wrap="square" anchor="ctr" lIns="0" rIns="0" tIns="0" bIns="0">
            <a:spAutoFit/>
          </a:bodyPr>
          <a:lstStyle/>
          <a:p>
            <a:pPr algn="l"/>
            <a:r>
              <a:rPr sz="1000" b="1">
                <a:solidFill>
                  <a:srgbClr val="FFFFFF"/>
                </a:solidFill>
                <a:latin typeface="Arial Black"/>
              </a:rPr>
              <a:t>YOU FOCUS ON</a:t>
            </a:r>
          </a:p>
        </p:txBody>
      </p:sp>
      <p:sp>
        <p:nvSpPr>
          <p:cNvPr id="7" name="TextBox 6"/>
          <p:cNvSpPr txBox="1"/>
          <p:nvPr/>
        </p:nvSpPr>
        <p:spPr>
          <a:xfrm>
            <a:off x="2834640" y="2103120"/>
            <a:ext cx="1828800" cy="640080"/>
          </a:xfrm>
          <a:prstGeom prst="rect">
            <a:avLst/>
          </a:prstGeom>
          <a:noFill/>
        </p:spPr>
        <p:txBody>
          <a:bodyPr wrap="square" anchor="ctr" lIns="0" rIns="0" tIns="0" bIns="0">
            <a:spAutoFit/>
          </a:bodyPr>
          <a:lstStyle/>
          <a:p>
            <a:pPr algn="l"/>
            <a:r>
              <a:rPr sz="1400" b="1">
                <a:solidFill>
                  <a:srgbClr val="FFFFFF"/>
                </a:solidFill>
                <a:latin typeface="Arial Black"/>
              </a:rPr>
              <a:t>PROSPECT</a:t>
            </a:r>
          </a:p>
        </p:txBody>
      </p:sp>
      <p:sp>
        <p:nvSpPr>
          <p:cNvPr id="8" name="TextBox 7"/>
          <p:cNvSpPr txBox="1"/>
          <p:nvPr/>
        </p:nvSpPr>
        <p:spPr>
          <a:xfrm>
            <a:off x="4754880" y="2103120"/>
            <a:ext cx="1828800" cy="640080"/>
          </a:xfrm>
          <a:prstGeom prst="rect">
            <a:avLst/>
          </a:prstGeom>
          <a:noFill/>
        </p:spPr>
        <p:txBody>
          <a:bodyPr wrap="square" anchor="ctr" lIns="0" rIns="0" tIns="0" bIns="0">
            <a:spAutoFit/>
          </a:bodyPr>
          <a:lstStyle/>
          <a:p>
            <a:pPr algn="l"/>
            <a:r>
              <a:rPr sz="1400" b="1">
                <a:solidFill>
                  <a:srgbClr val="FFFFFF"/>
                </a:solidFill>
                <a:latin typeface="Arial Black"/>
              </a:rPr>
              <a:t>CLOSE</a:t>
            </a:r>
          </a:p>
        </p:txBody>
      </p:sp>
      <p:sp>
        <p:nvSpPr>
          <p:cNvPr id="9" name="TextBox 8"/>
          <p:cNvSpPr txBox="1"/>
          <p:nvPr/>
        </p:nvSpPr>
        <p:spPr>
          <a:xfrm>
            <a:off x="6675120" y="2103120"/>
            <a:ext cx="1828800" cy="640080"/>
          </a:xfrm>
          <a:prstGeom prst="rect">
            <a:avLst/>
          </a:prstGeom>
          <a:noFill/>
        </p:spPr>
        <p:txBody>
          <a:bodyPr wrap="square" anchor="ctr" lIns="0" rIns="0" tIns="0" bIns="0">
            <a:spAutoFit/>
          </a:bodyPr>
          <a:lstStyle/>
          <a:p>
            <a:pPr algn="l"/>
            <a:r>
              <a:rPr sz="1400" b="1">
                <a:solidFill>
                  <a:srgbClr val="FFFFFF"/>
                </a:solidFill>
                <a:latin typeface="Arial Black"/>
              </a:rPr>
              <a:t>LIVE</a:t>
            </a:r>
          </a:p>
        </p:txBody>
      </p:sp>
      <p:sp>
        <p:nvSpPr>
          <p:cNvPr id="10" name="TextBox 9"/>
          <p:cNvSpPr txBox="1"/>
          <p:nvPr/>
        </p:nvSpPr>
        <p:spPr>
          <a:xfrm>
            <a:off x="5760720" y="2743200"/>
            <a:ext cx="914400" cy="274320"/>
          </a:xfrm>
          <a:prstGeom prst="rect">
            <a:avLst/>
          </a:prstGeom>
          <a:noFill/>
        </p:spPr>
        <p:txBody>
          <a:bodyPr wrap="square" anchor="t" lIns="0" rIns="0" tIns="0" bIns="0">
            <a:spAutoFit/>
          </a:bodyPr>
          <a:lstStyle/>
          <a:p>
            <a:pPr algn="ctr"/>
            <a:r>
              <a:rPr sz="1600" b="0">
                <a:solidFill>
                  <a:srgbClr val="9CA3AF"/>
                </a:solidFill>
                <a:latin typeface="Open Sans"/>
              </a:rPr>
              <a:t>↑</a:t>
            </a:r>
          </a:p>
        </p:txBody>
      </p:sp>
      <p:sp>
        <p:nvSpPr>
          <p:cNvPr id="11" name="Rectangle 10"/>
          <p:cNvSpPr/>
          <p:nvPr/>
        </p:nvSpPr>
        <p:spPr>
          <a:xfrm>
            <a:off x="685800" y="3063240"/>
            <a:ext cx="10789920" cy="640080"/>
          </a:xfrm>
          <a:prstGeom prst="rect">
            <a:avLst/>
          </a:prstGeom>
          <a:solidFill>
            <a:srgbClr val="FAFAFA"/>
          </a:solidFill>
          <a:ln w="12700">
            <a:solidFill>
              <a:srgbClr val="0084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063240"/>
            <a:ext cx="2011680" cy="640080"/>
          </a:xfrm>
          <a:prstGeom prst="rect">
            <a:avLst/>
          </a:prstGeom>
          <a:noFill/>
        </p:spPr>
        <p:txBody>
          <a:bodyPr wrap="square" anchor="ctr" lIns="0" rIns="0" tIns="0" bIns="0">
            <a:spAutoFit/>
          </a:bodyPr>
          <a:lstStyle/>
          <a:p>
            <a:pPr algn="l"/>
            <a:r>
              <a:rPr sz="1000" b="1">
                <a:solidFill>
                  <a:srgbClr val="374151"/>
                </a:solidFill>
                <a:latin typeface="Arial Black"/>
              </a:rPr>
              <a:t>FIVE PILLARS</a:t>
            </a:r>
          </a:p>
        </p:txBody>
      </p:sp>
      <p:sp>
        <p:nvSpPr>
          <p:cNvPr id="13" name="TextBox 12"/>
          <p:cNvSpPr txBox="1"/>
          <p:nvPr/>
        </p:nvSpPr>
        <p:spPr>
          <a:xfrm>
            <a:off x="2834640" y="3063240"/>
            <a:ext cx="1691640" cy="640080"/>
          </a:xfrm>
          <a:prstGeom prst="rect">
            <a:avLst/>
          </a:prstGeom>
          <a:noFill/>
        </p:spPr>
        <p:txBody>
          <a:bodyPr wrap="square" anchor="ctr" lIns="0" rIns="0" tIns="0" bIns="0">
            <a:spAutoFit/>
          </a:bodyPr>
          <a:lstStyle/>
          <a:p>
            <a:pPr algn="ctr"/>
            <a:r>
              <a:rPr sz="1100" b="1">
                <a:solidFill>
                  <a:srgbClr val="000000"/>
                </a:solidFill>
                <a:latin typeface="Arial Black"/>
              </a:rPr>
              <a:t>LEAD GEN</a:t>
            </a:r>
          </a:p>
        </p:txBody>
      </p:sp>
      <p:sp>
        <p:nvSpPr>
          <p:cNvPr id="14" name="TextBox 13"/>
          <p:cNvSpPr txBox="1"/>
          <p:nvPr/>
        </p:nvSpPr>
        <p:spPr>
          <a:xfrm>
            <a:off x="4572000" y="3063240"/>
            <a:ext cx="1691640" cy="640080"/>
          </a:xfrm>
          <a:prstGeom prst="rect">
            <a:avLst/>
          </a:prstGeom>
          <a:noFill/>
        </p:spPr>
        <p:txBody>
          <a:bodyPr wrap="square" anchor="ctr" lIns="0" rIns="0" tIns="0" bIns="0">
            <a:spAutoFit/>
          </a:bodyPr>
          <a:lstStyle/>
          <a:p>
            <a:pPr algn="ctr"/>
            <a:r>
              <a:rPr sz="1100" b="1">
                <a:solidFill>
                  <a:srgbClr val="000000"/>
                </a:solidFill>
                <a:latin typeface="Arial Black"/>
              </a:rPr>
              <a:t>OPS</a:t>
            </a:r>
          </a:p>
        </p:txBody>
      </p:sp>
      <p:sp>
        <p:nvSpPr>
          <p:cNvPr id="15" name="TextBox 14"/>
          <p:cNvSpPr txBox="1"/>
          <p:nvPr/>
        </p:nvSpPr>
        <p:spPr>
          <a:xfrm>
            <a:off x="6309360" y="3063240"/>
            <a:ext cx="1691640" cy="640080"/>
          </a:xfrm>
          <a:prstGeom prst="rect">
            <a:avLst/>
          </a:prstGeom>
          <a:noFill/>
        </p:spPr>
        <p:txBody>
          <a:bodyPr wrap="square" anchor="ctr" lIns="0" rIns="0" tIns="0" bIns="0">
            <a:spAutoFit/>
          </a:bodyPr>
          <a:lstStyle/>
          <a:p>
            <a:pPr algn="ctr"/>
            <a:r>
              <a:rPr sz="1100" b="1">
                <a:solidFill>
                  <a:srgbClr val="000000"/>
                </a:solidFill>
                <a:latin typeface="Arial Black"/>
              </a:rPr>
              <a:t>COACHING</a:t>
            </a:r>
          </a:p>
        </p:txBody>
      </p:sp>
      <p:sp>
        <p:nvSpPr>
          <p:cNvPr id="16" name="TextBox 15"/>
          <p:cNvSpPr txBox="1"/>
          <p:nvPr/>
        </p:nvSpPr>
        <p:spPr>
          <a:xfrm>
            <a:off x="8046720" y="3063240"/>
            <a:ext cx="1691640" cy="640080"/>
          </a:xfrm>
          <a:prstGeom prst="rect">
            <a:avLst/>
          </a:prstGeom>
          <a:noFill/>
        </p:spPr>
        <p:txBody>
          <a:bodyPr wrap="square" anchor="ctr" lIns="0" rIns="0" tIns="0" bIns="0">
            <a:spAutoFit/>
          </a:bodyPr>
          <a:lstStyle/>
          <a:p>
            <a:pPr algn="ctr"/>
            <a:r>
              <a:rPr sz="1100" b="1">
                <a:solidFill>
                  <a:srgbClr val="000000"/>
                </a:solidFill>
                <a:latin typeface="Arial Black"/>
              </a:rPr>
              <a:t>MARKETING</a:t>
            </a:r>
          </a:p>
        </p:txBody>
      </p:sp>
      <p:sp>
        <p:nvSpPr>
          <p:cNvPr id="17" name="TextBox 16"/>
          <p:cNvSpPr txBox="1"/>
          <p:nvPr/>
        </p:nvSpPr>
        <p:spPr>
          <a:xfrm>
            <a:off x="9784080" y="3063240"/>
            <a:ext cx="1691640" cy="640080"/>
          </a:xfrm>
          <a:prstGeom prst="rect">
            <a:avLst/>
          </a:prstGeom>
          <a:noFill/>
        </p:spPr>
        <p:txBody>
          <a:bodyPr wrap="square" anchor="ctr" lIns="0" rIns="0" tIns="0" bIns="0">
            <a:spAutoFit/>
          </a:bodyPr>
          <a:lstStyle/>
          <a:p>
            <a:pPr algn="ctr"/>
            <a:r>
              <a:rPr sz="1100" b="1">
                <a:solidFill>
                  <a:srgbClr val="000000"/>
                </a:solidFill>
                <a:latin typeface="Arial Black"/>
              </a:rPr>
              <a:t>WEALTH PATHS</a:t>
            </a:r>
          </a:p>
        </p:txBody>
      </p:sp>
      <p:sp>
        <p:nvSpPr>
          <p:cNvPr id="18" name="TextBox 17"/>
          <p:cNvSpPr txBox="1"/>
          <p:nvPr/>
        </p:nvSpPr>
        <p:spPr>
          <a:xfrm>
            <a:off x="5760720" y="3703320"/>
            <a:ext cx="914400" cy="274320"/>
          </a:xfrm>
          <a:prstGeom prst="rect">
            <a:avLst/>
          </a:prstGeom>
          <a:noFill/>
        </p:spPr>
        <p:txBody>
          <a:bodyPr wrap="square" anchor="t" lIns="0" rIns="0" tIns="0" bIns="0">
            <a:spAutoFit/>
          </a:bodyPr>
          <a:lstStyle/>
          <a:p>
            <a:pPr algn="ctr"/>
            <a:r>
              <a:rPr sz="1600" b="0">
                <a:solidFill>
                  <a:srgbClr val="9CA3AF"/>
                </a:solidFill>
                <a:latin typeface="Open Sans"/>
              </a:rPr>
              <a:t>↑</a:t>
            </a:r>
          </a:p>
        </p:txBody>
      </p:sp>
      <p:sp>
        <p:nvSpPr>
          <p:cNvPr id="19" name="Rectangle 18"/>
          <p:cNvSpPr/>
          <p:nvPr/>
        </p:nvSpPr>
        <p:spPr>
          <a:xfrm>
            <a:off x="685800" y="4023360"/>
            <a:ext cx="10789920" cy="640080"/>
          </a:xfrm>
          <a:prstGeom prst="rect">
            <a:avLst/>
          </a:prstGeom>
          <a:solidFill>
            <a:srgbClr val="FAFAFA"/>
          </a:solidFill>
          <a:ln w="12700">
            <a:solidFill>
              <a:srgbClr val="0084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023360"/>
            <a:ext cx="2011680" cy="640080"/>
          </a:xfrm>
          <a:prstGeom prst="rect">
            <a:avLst/>
          </a:prstGeom>
          <a:noFill/>
        </p:spPr>
        <p:txBody>
          <a:bodyPr wrap="square" anchor="ctr" lIns="0" rIns="0" tIns="0" bIns="0">
            <a:spAutoFit/>
          </a:bodyPr>
          <a:lstStyle/>
          <a:p>
            <a:pPr algn="l"/>
            <a:r>
              <a:rPr sz="1000" b="1">
                <a:solidFill>
                  <a:srgbClr val="374151"/>
                </a:solidFill>
                <a:latin typeface="Arial Black"/>
              </a:rPr>
              <a:t>DELIVERED BY</a:t>
            </a:r>
          </a:p>
        </p:txBody>
      </p:sp>
      <p:sp>
        <p:nvSpPr>
          <p:cNvPr id="21" name="TextBox 20"/>
          <p:cNvSpPr txBox="1"/>
          <p:nvPr/>
        </p:nvSpPr>
        <p:spPr>
          <a:xfrm>
            <a:off x="2834640" y="4023360"/>
            <a:ext cx="4114800" cy="640080"/>
          </a:xfrm>
          <a:prstGeom prst="rect">
            <a:avLst/>
          </a:prstGeom>
          <a:noFill/>
        </p:spPr>
        <p:txBody>
          <a:bodyPr wrap="square" anchor="ctr" lIns="0" rIns="0" tIns="0" bIns="0">
            <a:spAutoFit/>
          </a:bodyPr>
          <a:lstStyle/>
          <a:p>
            <a:pPr algn="ctr"/>
            <a:r>
              <a:rPr sz="1400" b="1">
                <a:solidFill>
                  <a:srgbClr val="000000"/>
                </a:solidFill>
                <a:latin typeface="Arial Black"/>
              </a:rPr>
              <a:t>BENSON CREW</a:t>
            </a:r>
          </a:p>
        </p:txBody>
      </p:sp>
      <p:sp>
        <p:nvSpPr>
          <p:cNvPr id="22" name="TextBox 21"/>
          <p:cNvSpPr txBox="1"/>
          <p:nvPr/>
        </p:nvSpPr>
        <p:spPr>
          <a:xfrm>
            <a:off x="7132320" y="4023360"/>
            <a:ext cx="4114800" cy="640080"/>
          </a:xfrm>
          <a:prstGeom prst="rect">
            <a:avLst/>
          </a:prstGeom>
          <a:noFill/>
        </p:spPr>
        <p:txBody>
          <a:bodyPr wrap="square" anchor="ctr" lIns="0" rIns="0" tIns="0" bIns="0">
            <a:spAutoFit/>
          </a:bodyPr>
          <a:lstStyle/>
          <a:p>
            <a:pPr algn="ctr"/>
            <a:r>
              <a:rPr sz="1400" b="1">
                <a:solidFill>
                  <a:srgbClr val="000000"/>
                </a:solidFill>
                <a:latin typeface="Arial Black"/>
              </a:rPr>
              <a:t>REAL BROKERAGE</a:t>
            </a:r>
          </a:p>
        </p:txBody>
      </p:sp>
      <p:sp>
        <p:nvSpPr>
          <p:cNvPr id="23" name="TextBox 22"/>
          <p:cNvSpPr txBox="1"/>
          <p:nvPr/>
        </p:nvSpPr>
        <p:spPr>
          <a:xfrm>
            <a:off x="5760720" y="4663440"/>
            <a:ext cx="914400" cy="274320"/>
          </a:xfrm>
          <a:prstGeom prst="rect">
            <a:avLst/>
          </a:prstGeom>
          <a:noFill/>
        </p:spPr>
        <p:txBody>
          <a:bodyPr wrap="square" anchor="t" lIns="0" rIns="0" tIns="0" bIns="0">
            <a:spAutoFit/>
          </a:bodyPr>
          <a:lstStyle/>
          <a:p>
            <a:pPr algn="ctr"/>
            <a:r>
              <a:rPr sz="1600" b="0">
                <a:solidFill>
                  <a:srgbClr val="9CA3AF"/>
                </a:solidFill>
                <a:latin typeface="Open Sans"/>
              </a:rPr>
              <a:t>↑</a:t>
            </a:r>
          </a:p>
        </p:txBody>
      </p:sp>
      <p:sp>
        <p:nvSpPr>
          <p:cNvPr id="24" name="Rectangle 23"/>
          <p:cNvSpPr/>
          <p:nvPr/>
        </p:nvSpPr>
        <p:spPr>
          <a:xfrm>
            <a:off x="685800" y="4983480"/>
            <a:ext cx="10789920" cy="7315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983480"/>
            <a:ext cx="2011680" cy="731520"/>
          </a:xfrm>
          <a:prstGeom prst="rect">
            <a:avLst/>
          </a:prstGeom>
          <a:noFill/>
        </p:spPr>
        <p:txBody>
          <a:bodyPr wrap="square" anchor="ctr" lIns="0" rIns="0" tIns="0" bIns="0">
            <a:spAutoFit/>
          </a:bodyPr>
          <a:lstStyle/>
          <a:p>
            <a:pPr algn="l"/>
            <a:r>
              <a:rPr sz="1000" b="1">
                <a:solidFill>
                  <a:srgbClr val="0084C9"/>
                </a:solidFill>
                <a:latin typeface="Arial Black"/>
              </a:rPr>
              <a:t>OUR PROMISE</a:t>
            </a:r>
          </a:p>
        </p:txBody>
      </p:sp>
      <p:sp>
        <p:nvSpPr>
          <p:cNvPr id="26" name="TextBox 25"/>
          <p:cNvSpPr txBox="1"/>
          <p:nvPr/>
        </p:nvSpPr>
        <p:spPr>
          <a:xfrm>
            <a:off x="2834640" y="4983480"/>
            <a:ext cx="8595360" cy="731520"/>
          </a:xfrm>
          <a:prstGeom prst="rect">
            <a:avLst/>
          </a:prstGeom>
          <a:noFill/>
        </p:spPr>
        <p:txBody>
          <a:bodyPr wrap="square" anchor="ctr" lIns="0" rIns="0" tIns="0" bIns="0">
            <a:spAutoFit/>
          </a:bodyPr>
          <a:lstStyle/>
          <a:p>
            <a:pPr algn="l"/>
            <a:r>
              <a:rPr sz="1600" b="1">
                <a:solidFill>
                  <a:srgbClr val="FFFFFF"/>
                </a:solidFill>
                <a:latin typeface="Arial Black"/>
              </a:rPr>
              <a:t>ELIMINATE RISK. </a:t>
            </a:r>
            <a:r>
              <a:rPr sz="1600" b="1">
                <a:solidFill>
                  <a:srgbClr val="0084C9"/>
                </a:solidFill>
                <a:latin typeface="Arial Black"/>
              </a:rPr>
              <a:t>INCREASE OPPORTUNITY.</a:t>
            </a:r>
          </a:p>
        </p:txBody>
      </p:sp>
      <p:sp>
        <p:nvSpPr>
          <p:cNvPr id="27" name="Rectangle 26"/>
          <p:cNvSpPr/>
          <p:nvPr/>
        </p:nvSpPr>
        <p:spPr>
          <a:xfrm>
            <a:off x="457200" y="6446520"/>
            <a:ext cx="320040" cy="36576"/>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6400800"/>
            <a:ext cx="10972800" cy="274320"/>
          </a:xfrm>
          <a:prstGeom prst="rect">
            <a:avLst/>
          </a:prstGeom>
          <a:noFill/>
        </p:spPr>
        <p:txBody>
          <a:bodyPr wrap="square" anchor="ctr" lIns="0" rIns="0" tIns="0" bIns="0">
            <a:spAutoFit/>
          </a:bodyPr>
          <a:lstStyle/>
          <a:p>
            <a:pPr algn="r"/>
            <a:r>
              <a:rPr sz="800" b="1">
                <a:solidFill>
                  <a:srgbClr val="0084C9"/>
                </a:solidFill>
                <a:latin typeface="Arial Black"/>
              </a:rPr>
              <a:t>BENSON CREW  ·  Q2 2026  ·  ELIMINATE RISK. INCREASE OPPORTUNITY.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7315200" cy="274320"/>
          </a:xfrm>
          <a:prstGeom prst="rect">
            <a:avLst/>
          </a:prstGeom>
          <a:noFill/>
        </p:spPr>
        <p:txBody>
          <a:bodyPr wrap="square" anchor="t" lIns="0" rIns="0" tIns="0" bIns="0">
            <a:spAutoFit/>
          </a:bodyPr>
          <a:lstStyle/>
          <a:p>
            <a:pPr algn="l"/>
            <a:r>
              <a:rPr sz="1100" b="1">
                <a:solidFill>
                  <a:srgbClr val="FFFFFF"/>
                </a:solidFill>
                <a:latin typeface="Arial Black"/>
              </a:rPr>
              <a:t>THE NEW PILLAR</a:t>
            </a:r>
          </a:p>
        </p:txBody>
      </p:sp>
      <p:sp>
        <p:nvSpPr>
          <p:cNvPr id="4" name="TextBox 3"/>
          <p:cNvSpPr txBox="1"/>
          <p:nvPr/>
        </p:nvSpPr>
        <p:spPr>
          <a:xfrm>
            <a:off x="685800" y="868680"/>
            <a:ext cx="10972800" cy="1188720"/>
          </a:xfrm>
          <a:prstGeom prst="rect">
            <a:avLst/>
          </a:prstGeom>
          <a:noFill/>
        </p:spPr>
        <p:txBody>
          <a:bodyPr wrap="square" anchor="t" lIns="0" rIns="0" tIns="0" bIns="0">
            <a:spAutoFit/>
          </a:bodyPr>
          <a:lstStyle/>
          <a:p>
            <a:pPr algn="l">
              <a:lnSpc>
                <a:spcPct val="100000"/>
              </a:lnSpc>
            </a:pPr>
            <a:r>
              <a:rPr sz="4400" b="1">
                <a:solidFill>
                  <a:srgbClr val="FFFFFF"/>
                </a:solidFill>
                <a:latin typeface="Arial Black"/>
              </a:rPr>
              <a:t>AI THAT CLOSES THE GAP.</a:t>
            </a:r>
          </a:p>
        </p:txBody>
      </p:sp>
      <p:sp>
        <p:nvSpPr>
          <p:cNvPr id="5" name="TextBox 4"/>
          <p:cNvSpPr txBox="1"/>
          <p:nvPr/>
        </p:nvSpPr>
        <p:spPr>
          <a:xfrm>
            <a:off x="685800" y="2057400"/>
            <a:ext cx="10789920" cy="822960"/>
          </a:xfrm>
          <a:prstGeom prst="rect">
            <a:avLst/>
          </a:prstGeom>
          <a:noFill/>
        </p:spPr>
        <p:txBody>
          <a:bodyPr wrap="square" anchor="t" lIns="0" rIns="0" tIns="0" bIns="0">
            <a:spAutoFit/>
          </a:bodyPr>
          <a:lstStyle/>
          <a:p>
            <a:pPr algn="l"/>
            <a:r>
              <a:rPr sz="1300" b="0">
                <a:solidFill>
                  <a:srgbClr val="FFFFFF"/>
                </a:solidFill>
                <a:latin typeface="Open Sans"/>
              </a:rPr>
              <a:t>Your own AI. Connected to every tool you use. It knows your numbers, your leads, your training, your meetings, your goals. And it helps you close on every one of them.</a:t>
            </a:r>
          </a:p>
        </p:txBody>
      </p:sp>
      <p:sp>
        <p:nvSpPr>
          <p:cNvPr id="6" name="Rectangle 5"/>
          <p:cNvSpPr/>
          <p:nvPr/>
        </p:nvSpPr>
        <p:spPr>
          <a:xfrm>
            <a:off x="548640" y="3108960"/>
            <a:ext cx="3657600" cy="1051560"/>
          </a:xfrm>
          <a:prstGeom prst="rect">
            <a:avLst/>
          </a:prstGeom>
          <a:solidFill>
            <a:srgbClr val="1B9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3108960"/>
            <a:ext cx="457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00400"/>
            <a:ext cx="3383280" cy="365760"/>
          </a:xfrm>
          <a:prstGeom prst="rect">
            <a:avLst/>
          </a:prstGeom>
          <a:noFill/>
        </p:spPr>
        <p:txBody>
          <a:bodyPr wrap="square" anchor="t" lIns="0" rIns="0" tIns="0" bIns="0">
            <a:spAutoFit/>
          </a:bodyPr>
          <a:lstStyle/>
          <a:p>
            <a:pPr algn="l"/>
            <a:r>
              <a:rPr sz="1200" b="1">
                <a:solidFill>
                  <a:srgbClr val="FFFFFF"/>
                </a:solidFill>
                <a:latin typeface="Arial Black"/>
              </a:rPr>
              <a:t>YOUR KPIS</a:t>
            </a:r>
          </a:p>
        </p:txBody>
      </p:sp>
      <p:sp>
        <p:nvSpPr>
          <p:cNvPr id="9" name="TextBox 8"/>
          <p:cNvSpPr txBox="1"/>
          <p:nvPr/>
        </p:nvSpPr>
        <p:spPr>
          <a:xfrm>
            <a:off x="731520" y="3566160"/>
            <a:ext cx="3383280" cy="502920"/>
          </a:xfrm>
          <a:prstGeom prst="rect">
            <a:avLst/>
          </a:prstGeom>
          <a:noFill/>
        </p:spPr>
        <p:txBody>
          <a:bodyPr wrap="square" anchor="t" lIns="0" rIns="0" tIns="0" bIns="0">
            <a:spAutoFit/>
          </a:bodyPr>
          <a:lstStyle/>
          <a:p>
            <a:pPr algn="l"/>
            <a:r>
              <a:rPr sz="1100" b="0">
                <a:solidFill>
                  <a:srgbClr val="FFFFFF"/>
                </a:solidFill>
                <a:latin typeface="Open Sans"/>
              </a:rPr>
              <a:t>Pace, gaps, what to focus on</a:t>
            </a:r>
          </a:p>
        </p:txBody>
      </p:sp>
      <p:sp>
        <p:nvSpPr>
          <p:cNvPr id="10" name="Rectangle 9"/>
          <p:cNvSpPr/>
          <p:nvPr/>
        </p:nvSpPr>
        <p:spPr>
          <a:xfrm>
            <a:off x="4297680" y="3108960"/>
            <a:ext cx="3657600" cy="1051560"/>
          </a:xfrm>
          <a:prstGeom prst="rect">
            <a:avLst/>
          </a:prstGeom>
          <a:solidFill>
            <a:srgbClr val="1B9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3108960"/>
            <a:ext cx="457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3200400"/>
            <a:ext cx="3383280" cy="365760"/>
          </a:xfrm>
          <a:prstGeom prst="rect">
            <a:avLst/>
          </a:prstGeom>
          <a:noFill/>
        </p:spPr>
        <p:txBody>
          <a:bodyPr wrap="square" anchor="t" lIns="0" rIns="0" tIns="0" bIns="0">
            <a:spAutoFit/>
          </a:bodyPr>
          <a:lstStyle/>
          <a:p>
            <a:pPr algn="l"/>
            <a:r>
              <a:rPr sz="1200" b="1">
                <a:solidFill>
                  <a:srgbClr val="FFFFFF"/>
                </a:solidFill>
                <a:latin typeface="Arial Black"/>
              </a:rPr>
              <a:t>FOLLOW UP BOSS</a:t>
            </a:r>
          </a:p>
        </p:txBody>
      </p:sp>
      <p:sp>
        <p:nvSpPr>
          <p:cNvPr id="13" name="TextBox 12"/>
          <p:cNvSpPr txBox="1"/>
          <p:nvPr/>
        </p:nvSpPr>
        <p:spPr>
          <a:xfrm>
            <a:off x="4480560" y="3566160"/>
            <a:ext cx="3383280" cy="502920"/>
          </a:xfrm>
          <a:prstGeom prst="rect">
            <a:avLst/>
          </a:prstGeom>
          <a:noFill/>
        </p:spPr>
        <p:txBody>
          <a:bodyPr wrap="square" anchor="t" lIns="0" rIns="0" tIns="0" bIns="0">
            <a:spAutoFit/>
          </a:bodyPr>
          <a:lstStyle/>
          <a:p>
            <a:pPr algn="l"/>
            <a:r>
              <a:rPr sz="1100" b="0">
                <a:solidFill>
                  <a:srgbClr val="FFFFFF"/>
                </a:solidFill>
                <a:latin typeface="Open Sans"/>
              </a:rPr>
              <a:t>Every lead, contact, note</a:t>
            </a:r>
          </a:p>
        </p:txBody>
      </p:sp>
      <p:sp>
        <p:nvSpPr>
          <p:cNvPr id="14" name="Rectangle 13"/>
          <p:cNvSpPr/>
          <p:nvPr/>
        </p:nvSpPr>
        <p:spPr>
          <a:xfrm>
            <a:off x="8046720" y="3108960"/>
            <a:ext cx="3657600" cy="1051560"/>
          </a:xfrm>
          <a:prstGeom prst="rect">
            <a:avLst/>
          </a:prstGeom>
          <a:solidFill>
            <a:srgbClr val="1B9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3108960"/>
            <a:ext cx="457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3200400"/>
            <a:ext cx="3383280" cy="365760"/>
          </a:xfrm>
          <a:prstGeom prst="rect">
            <a:avLst/>
          </a:prstGeom>
          <a:noFill/>
        </p:spPr>
        <p:txBody>
          <a:bodyPr wrap="square" anchor="t" lIns="0" rIns="0" tIns="0" bIns="0">
            <a:spAutoFit/>
          </a:bodyPr>
          <a:lstStyle/>
          <a:p>
            <a:pPr algn="l"/>
            <a:r>
              <a:rPr sz="1200" b="1">
                <a:solidFill>
                  <a:srgbClr val="FFFFFF"/>
                </a:solidFill>
                <a:latin typeface="Arial Black"/>
              </a:rPr>
              <a:t>YOUR GOALS</a:t>
            </a:r>
          </a:p>
        </p:txBody>
      </p:sp>
      <p:sp>
        <p:nvSpPr>
          <p:cNvPr id="17" name="TextBox 16"/>
          <p:cNvSpPr txBox="1"/>
          <p:nvPr/>
        </p:nvSpPr>
        <p:spPr>
          <a:xfrm>
            <a:off x="8229600" y="3566160"/>
            <a:ext cx="3383280" cy="502920"/>
          </a:xfrm>
          <a:prstGeom prst="rect">
            <a:avLst/>
          </a:prstGeom>
          <a:noFill/>
        </p:spPr>
        <p:txBody>
          <a:bodyPr wrap="square" anchor="t" lIns="0" rIns="0" tIns="0" bIns="0">
            <a:spAutoFit/>
          </a:bodyPr>
          <a:lstStyle/>
          <a:p>
            <a:pPr algn="l"/>
            <a:r>
              <a:rPr sz="1100" b="0">
                <a:solidFill>
                  <a:srgbClr val="FFFFFF"/>
                </a:solidFill>
                <a:latin typeface="Open Sans"/>
              </a:rPr>
              <a:t>What you're chasing this month</a:t>
            </a:r>
          </a:p>
        </p:txBody>
      </p:sp>
      <p:sp>
        <p:nvSpPr>
          <p:cNvPr id="18" name="Rectangle 17"/>
          <p:cNvSpPr/>
          <p:nvPr/>
        </p:nvSpPr>
        <p:spPr>
          <a:xfrm>
            <a:off x="548640" y="4297680"/>
            <a:ext cx="3657600" cy="1051560"/>
          </a:xfrm>
          <a:prstGeom prst="rect">
            <a:avLst/>
          </a:prstGeom>
          <a:solidFill>
            <a:srgbClr val="1B9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297680"/>
            <a:ext cx="457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389120"/>
            <a:ext cx="3383280" cy="365760"/>
          </a:xfrm>
          <a:prstGeom prst="rect">
            <a:avLst/>
          </a:prstGeom>
          <a:noFill/>
        </p:spPr>
        <p:txBody>
          <a:bodyPr wrap="square" anchor="t" lIns="0" rIns="0" tIns="0" bIns="0">
            <a:spAutoFit/>
          </a:bodyPr>
          <a:lstStyle/>
          <a:p>
            <a:pPr algn="l"/>
            <a:r>
              <a:rPr sz="1200" b="1">
                <a:solidFill>
                  <a:srgbClr val="FFFFFF"/>
                </a:solidFill>
                <a:latin typeface="Arial Black"/>
              </a:rPr>
              <a:t>SKOOL TRAINING</a:t>
            </a:r>
          </a:p>
        </p:txBody>
      </p:sp>
      <p:sp>
        <p:nvSpPr>
          <p:cNvPr id="21" name="TextBox 20"/>
          <p:cNvSpPr txBox="1"/>
          <p:nvPr/>
        </p:nvSpPr>
        <p:spPr>
          <a:xfrm>
            <a:off x="731520" y="4754880"/>
            <a:ext cx="3383280" cy="502920"/>
          </a:xfrm>
          <a:prstGeom prst="rect">
            <a:avLst/>
          </a:prstGeom>
          <a:noFill/>
        </p:spPr>
        <p:txBody>
          <a:bodyPr wrap="square" anchor="t" lIns="0" rIns="0" tIns="0" bIns="0">
            <a:spAutoFit/>
          </a:bodyPr>
          <a:lstStyle/>
          <a:p>
            <a:pPr algn="l"/>
            <a:r>
              <a:rPr sz="1100" b="0">
                <a:solidFill>
                  <a:srgbClr val="FFFFFF"/>
                </a:solidFill>
                <a:latin typeface="Open Sans"/>
              </a:rPr>
              <a:t>Every video, every lesson</a:t>
            </a:r>
          </a:p>
        </p:txBody>
      </p:sp>
      <p:sp>
        <p:nvSpPr>
          <p:cNvPr id="22" name="Rectangle 21"/>
          <p:cNvSpPr/>
          <p:nvPr/>
        </p:nvSpPr>
        <p:spPr>
          <a:xfrm>
            <a:off x="4297680" y="4297680"/>
            <a:ext cx="3657600" cy="1051560"/>
          </a:xfrm>
          <a:prstGeom prst="rect">
            <a:avLst/>
          </a:prstGeom>
          <a:solidFill>
            <a:srgbClr val="1B9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80" y="4297680"/>
            <a:ext cx="457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389120"/>
            <a:ext cx="3383280" cy="365760"/>
          </a:xfrm>
          <a:prstGeom prst="rect">
            <a:avLst/>
          </a:prstGeom>
          <a:noFill/>
        </p:spPr>
        <p:txBody>
          <a:bodyPr wrap="square" anchor="t" lIns="0" rIns="0" tIns="0" bIns="0">
            <a:spAutoFit/>
          </a:bodyPr>
          <a:lstStyle/>
          <a:p>
            <a:pPr algn="l"/>
            <a:r>
              <a:rPr sz="1200" b="1">
                <a:solidFill>
                  <a:srgbClr val="FFFFFF"/>
                </a:solidFill>
                <a:latin typeface="Arial Black"/>
              </a:rPr>
              <a:t>YOUR MEETINGS</a:t>
            </a:r>
          </a:p>
        </p:txBody>
      </p:sp>
      <p:sp>
        <p:nvSpPr>
          <p:cNvPr id="25" name="TextBox 24"/>
          <p:cNvSpPr txBox="1"/>
          <p:nvPr/>
        </p:nvSpPr>
        <p:spPr>
          <a:xfrm>
            <a:off x="4480560" y="4754880"/>
            <a:ext cx="3383280" cy="502920"/>
          </a:xfrm>
          <a:prstGeom prst="rect">
            <a:avLst/>
          </a:prstGeom>
          <a:noFill/>
        </p:spPr>
        <p:txBody>
          <a:bodyPr wrap="square" anchor="t" lIns="0" rIns="0" tIns="0" bIns="0">
            <a:spAutoFit/>
          </a:bodyPr>
          <a:lstStyle/>
          <a:p>
            <a:pPr algn="l"/>
            <a:r>
              <a:rPr sz="1100" b="0">
                <a:solidFill>
                  <a:srgbClr val="FFFFFF"/>
                </a:solidFill>
                <a:latin typeface="Open Sans"/>
              </a:rPr>
              <a:t>Notes, contacts, next steps</a:t>
            </a:r>
          </a:p>
        </p:txBody>
      </p:sp>
      <p:sp>
        <p:nvSpPr>
          <p:cNvPr id="26" name="Rectangle 25"/>
          <p:cNvSpPr/>
          <p:nvPr/>
        </p:nvSpPr>
        <p:spPr>
          <a:xfrm>
            <a:off x="8046720" y="4297680"/>
            <a:ext cx="3657600" cy="1051560"/>
          </a:xfrm>
          <a:prstGeom prst="rect">
            <a:avLst/>
          </a:prstGeom>
          <a:solidFill>
            <a:srgbClr val="1B9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4297680"/>
            <a:ext cx="4572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4389120"/>
            <a:ext cx="3383280" cy="365760"/>
          </a:xfrm>
          <a:prstGeom prst="rect">
            <a:avLst/>
          </a:prstGeom>
          <a:noFill/>
        </p:spPr>
        <p:txBody>
          <a:bodyPr wrap="square" anchor="t" lIns="0" rIns="0" tIns="0" bIns="0">
            <a:spAutoFit/>
          </a:bodyPr>
          <a:lstStyle/>
          <a:p>
            <a:pPr algn="l"/>
            <a:r>
              <a:rPr sz="1200" b="1">
                <a:solidFill>
                  <a:srgbClr val="FFFFFF"/>
                </a:solidFill>
                <a:latin typeface="Arial Black"/>
              </a:rPr>
              <a:t>YOUR EMAIL</a:t>
            </a:r>
          </a:p>
        </p:txBody>
      </p:sp>
      <p:sp>
        <p:nvSpPr>
          <p:cNvPr id="29" name="TextBox 28"/>
          <p:cNvSpPr txBox="1"/>
          <p:nvPr/>
        </p:nvSpPr>
        <p:spPr>
          <a:xfrm>
            <a:off x="8229600" y="4754880"/>
            <a:ext cx="3383280" cy="502920"/>
          </a:xfrm>
          <a:prstGeom prst="rect">
            <a:avLst/>
          </a:prstGeom>
          <a:noFill/>
        </p:spPr>
        <p:txBody>
          <a:bodyPr wrap="square" anchor="t" lIns="0" rIns="0" tIns="0" bIns="0">
            <a:spAutoFit/>
          </a:bodyPr>
          <a:lstStyle/>
          <a:p>
            <a:pPr algn="l"/>
            <a:r>
              <a:rPr sz="1100" b="0">
                <a:solidFill>
                  <a:srgbClr val="FFFFFF"/>
                </a:solidFill>
                <a:latin typeface="Open Sans"/>
              </a:rPr>
              <a:t>Conversations, threads, context</a:t>
            </a:r>
          </a:p>
        </p:txBody>
      </p:sp>
      <p:sp>
        <p:nvSpPr>
          <p:cNvPr id="30" name="Rectangle 29"/>
          <p:cNvSpPr/>
          <p:nvPr/>
        </p:nvSpPr>
        <p:spPr>
          <a:xfrm>
            <a:off x="548640" y="5440680"/>
            <a:ext cx="11109960" cy="502920"/>
          </a:xfrm>
          <a:prstGeom prst="rect">
            <a:avLst/>
          </a:prstGeom>
          <a:solidFill>
            <a:srgbClr val="006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5440680"/>
            <a:ext cx="11109960" cy="502920"/>
          </a:xfrm>
          <a:prstGeom prst="rect">
            <a:avLst/>
          </a:prstGeom>
          <a:noFill/>
        </p:spPr>
        <p:txBody>
          <a:bodyPr wrap="square" anchor="ctr" lIns="0" rIns="0" tIns="0" bIns="0">
            <a:spAutoFit/>
          </a:bodyPr>
          <a:lstStyle/>
          <a:p>
            <a:pPr algn="ctr"/>
            <a:r>
              <a:rPr sz="1400" b="1">
                <a:solidFill>
                  <a:srgbClr val="FFFFFF"/>
                </a:solidFill>
                <a:latin typeface="Arial Black"/>
              </a:rPr>
              <a:t>PULLS ANSWERS.  TAKES ACTION.  CLOSES EVERY GAP.</a:t>
            </a:r>
          </a:p>
        </p:txBody>
      </p:sp>
      <p:sp>
        <p:nvSpPr>
          <p:cNvPr id="32" name="Rectangle 31"/>
          <p:cNvSpPr/>
          <p:nvPr/>
        </p:nvSpPr>
        <p:spPr>
          <a:xfrm>
            <a:off x="457200" y="6446520"/>
            <a:ext cx="32004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6400800"/>
            <a:ext cx="10972800" cy="274320"/>
          </a:xfrm>
          <a:prstGeom prst="rect">
            <a:avLst/>
          </a:prstGeom>
          <a:noFill/>
        </p:spPr>
        <p:txBody>
          <a:bodyPr wrap="square" anchor="ctr" lIns="0" rIns="0" tIns="0" bIns="0">
            <a:spAutoFit/>
          </a:bodyPr>
          <a:lstStyle/>
          <a:p>
            <a:pPr algn="r"/>
            <a:r>
              <a:rPr sz="800" b="1">
                <a:solidFill>
                  <a:srgbClr val="FFFFFF"/>
                </a:solidFill>
                <a:latin typeface="Arial Black"/>
              </a:rPr>
              <a:t>BENSON CREW  ·  Q2 2026  ·  ELIMINATE RISK. INCREASE OPPORTUNITY.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7315200" cy="274320"/>
          </a:xfrm>
          <a:prstGeom prst="rect">
            <a:avLst/>
          </a:prstGeom>
          <a:noFill/>
        </p:spPr>
        <p:txBody>
          <a:bodyPr wrap="square" anchor="t" lIns="0" rIns="0" tIns="0" bIns="0">
            <a:spAutoFit/>
          </a:bodyPr>
          <a:lstStyle/>
          <a:p>
            <a:pPr algn="l"/>
            <a:r>
              <a:rPr sz="1100" b="1">
                <a:solidFill>
                  <a:srgbClr val="0084C9"/>
                </a:solidFill>
                <a:latin typeface="Arial Black"/>
              </a:rPr>
              <a:t>WHAT IT ADDS UP TO</a:t>
            </a:r>
          </a:p>
        </p:txBody>
      </p:sp>
      <p:sp>
        <p:nvSpPr>
          <p:cNvPr id="4" name="TextBox 3"/>
          <p:cNvSpPr txBox="1"/>
          <p:nvPr/>
        </p:nvSpPr>
        <p:spPr>
          <a:xfrm>
            <a:off x="685800" y="868680"/>
            <a:ext cx="10972800" cy="2011680"/>
          </a:xfrm>
          <a:prstGeom prst="rect">
            <a:avLst/>
          </a:prstGeom>
          <a:noFill/>
        </p:spPr>
        <p:txBody>
          <a:bodyPr wrap="square" anchor="t" lIns="0" rIns="0" tIns="0" bIns="0">
            <a:spAutoFit/>
          </a:bodyPr>
          <a:lstStyle/>
          <a:p>
            <a:pPr algn="l">
              <a:lnSpc>
                <a:spcPct val="100000"/>
              </a:lnSpc>
            </a:pPr>
            <a:r>
              <a:rPr sz="5600" b="1">
                <a:solidFill>
                  <a:srgbClr val="000000"/>
                </a:solidFill>
                <a:latin typeface="Arial Black"/>
              </a:rPr>
              <a:t>WE GET OUR </a:t>
            </a:r>
            <a:r>
              <a:rPr sz="5600" b="1">
                <a:solidFill>
                  <a:srgbClr val="0084C9"/>
                </a:solidFill>
                <a:latin typeface="Arial Black"/>
              </a:rPr>
              <a:t>TIME </a:t>
            </a:r>
            <a:r>
              <a:rPr sz="5600" b="1">
                <a:solidFill>
                  <a:srgbClr val="000000"/>
                </a:solidFill>
                <a:latin typeface="Arial Black"/>
              </a:rPr>
              <a:t>BACK.</a:t>
            </a:r>
          </a:p>
        </p:txBody>
      </p:sp>
      <p:sp>
        <p:nvSpPr>
          <p:cNvPr id="5" name="Rectangle 4"/>
          <p:cNvSpPr/>
          <p:nvPr/>
        </p:nvSpPr>
        <p:spPr>
          <a:xfrm>
            <a:off x="822960" y="3474720"/>
            <a:ext cx="228600" cy="54864"/>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3291840"/>
            <a:ext cx="10149840" cy="502920"/>
          </a:xfrm>
          <a:prstGeom prst="rect">
            <a:avLst/>
          </a:prstGeom>
          <a:noFill/>
        </p:spPr>
        <p:txBody>
          <a:bodyPr wrap="square" anchor="t" lIns="0" rIns="0" tIns="0" bIns="0">
            <a:spAutoFit/>
          </a:bodyPr>
          <a:lstStyle/>
          <a:p>
            <a:pPr algn="l"/>
            <a:r>
              <a:rPr sz="1500" b="1">
                <a:solidFill>
                  <a:srgbClr val="000000"/>
                </a:solidFill>
                <a:latin typeface="Open Sans"/>
              </a:rPr>
              <a:t>Time </a:t>
            </a:r>
            <a:r>
              <a:rPr sz="1500" b="1">
                <a:solidFill>
                  <a:srgbClr val="374151"/>
                </a:solidFill>
                <a:latin typeface="Open Sans"/>
              </a:rPr>
              <a:t>for the three things that matter. Prospecting. Appointments. Deals.</a:t>
            </a:r>
          </a:p>
        </p:txBody>
      </p:sp>
      <p:sp>
        <p:nvSpPr>
          <p:cNvPr id="7" name="Rectangle 6"/>
          <p:cNvSpPr/>
          <p:nvPr/>
        </p:nvSpPr>
        <p:spPr>
          <a:xfrm>
            <a:off x="822960" y="4041648"/>
            <a:ext cx="228600" cy="54864"/>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858768"/>
            <a:ext cx="10149840" cy="502920"/>
          </a:xfrm>
          <a:prstGeom prst="rect">
            <a:avLst/>
          </a:prstGeom>
          <a:noFill/>
        </p:spPr>
        <p:txBody>
          <a:bodyPr wrap="square" anchor="t" lIns="0" rIns="0" tIns="0" bIns="0">
            <a:spAutoFit/>
          </a:bodyPr>
          <a:lstStyle/>
          <a:p>
            <a:pPr algn="l"/>
            <a:r>
              <a:rPr sz="1500" b="1">
                <a:solidFill>
                  <a:srgbClr val="000000"/>
                </a:solidFill>
                <a:latin typeface="Open Sans"/>
              </a:rPr>
              <a:t>Life </a:t>
            </a:r>
            <a:r>
              <a:rPr sz="1500" b="1">
                <a:solidFill>
                  <a:srgbClr val="374151"/>
                </a:solidFill>
                <a:latin typeface="Open Sans"/>
              </a:rPr>
              <a:t>back. Family. Health. Hobbies. The reason we went into this in the first place.</a:t>
            </a:r>
          </a:p>
        </p:txBody>
      </p:sp>
      <p:sp>
        <p:nvSpPr>
          <p:cNvPr id="9" name="Rectangle 8"/>
          <p:cNvSpPr/>
          <p:nvPr/>
        </p:nvSpPr>
        <p:spPr>
          <a:xfrm>
            <a:off x="822960" y="4608576"/>
            <a:ext cx="228600" cy="54864"/>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4425696"/>
            <a:ext cx="10149840" cy="502920"/>
          </a:xfrm>
          <a:prstGeom prst="rect">
            <a:avLst/>
          </a:prstGeom>
          <a:noFill/>
        </p:spPr>
        <p:txBody>
          <a:bodyPr wrap="square" anchor="t" lIns="0" rIns="0" tIns="0" bIns="0">
            <a:spAutoFit/>
          </a:bodyPr>
          <a:lstStyle/>
          <a:p>
            <a:pPr algn="l"/>
            <a:r>
              <a:rPr sz="1500" b="1">
                <a:solidFill>
                  <a:srgbClr val="000000"/>
                </a:solidFill>
                <a:latin typeface="Open Sans"/>
              </a:rPr>
              <a:t>Better leads, </a:t>
            </a:r>
            <a:r>
              <a:rPr sz="1500" b="1">
                <a:solidFill>
                  <a:srgbClr val="374151"/>
                </a:solidFill>
                <a:latin typeface="Open Sans"/>
              </a:rPr>
              <a:t>sharper follow up, nothing slipping through.</a:t>
            </a:r>
          </a:p>
        </p:txBody>
      </p:sp>
      <p:sp>
        <p:nvSpPr>
          <p:cNvPr id="11" name="Rectangle 10"/>
          <p:cNvSpPr/>
          <p:nvPr/>
        </p:nvSpPr>
        <p:spPr>
          <a:xfrm>
            <a:off x="822960" y="5175504"/>
            <a:ext cx="228600" cy="54864"/>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992624"/>
            <a:ext cx="10149840" cy="502920"/>
          </a:xfrm>
          <a:prstGeom prst="rect">
            <a:avLst/>
          </a:prstGeom>
          <a:noFill/>
        </p:spPr>
        <p:txBody>
          <a:bodyPr wrap="square" anchor="t" lIns="0" rIns="0" tIns="0" bIns="0">
            <a:spAutoFit/>
          </a:bodyPr>
          <a:lstStyle/>
          <a:p>
            <a:pPr algn="l"/>
            <a:r>
              <a:rPr sz="1500" b="1">
                <a:solidFill>
                  <a:srgbClr val="000000"/>
                </a:solidFill>
                <a:latin typeface="Open Sans"/>
              </a:rPr>
              <a:t>A business that compounds. </a:t>
            </a:r>
            <a:r>
              <a:rPr sz="1500" b="1">
                <a:solidFill>
                  <a:srgbClr val="374151"/>
                </a:solidFill>
                <a:latin typeface="Open Sans"/>
              </a:rPr>
              <a:t>Every deal builds on the last. Every year sharper.</a:t>
            </a:r>
          </a:p>
        </p:txBody>
      </p:sp>
      <p:sp>
        <p:nvSpPr>
          <p:cNvPr id="13" name="Rectangle 12"/>
          <p:cNvSpPr/>
          <p:nvPr/>
        </p:nvSpPr>
        <p:spPr>
          <a:xfrm>
            <a:off x="457200" y="6446520"/>
            <a:ext cx="320040" cy="36576"/>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400800"/>
            <a:ext cx="10972800" cy="274320"/>
          </a:xfrm>
          <a:prstGeom prst="rect">
            <a:avLst/>
          </a:prstGeom>
          <a:noFill/>
        </p:spPr>
        <p:txBody>
          <a:bodyPr wrap="square" anchor="ctr" lIns="0" rIns="0" tIns="0" bIns="0">
            <a:spAutoFit/>
          </a:bodyPr>
          <a:lstStyle/>
          <a:p>
            <a:pPr algn="r"/>
            <a:r>
              <a:rPr sz="800" b="1">
                <a:solidFill>
                  <a:srgbClr val="0084C9"/>
                </a:solidFill>
                <a:latin typeface="Arial Black"/>
              </a:rPr>
              <a:t>BENSON CREW  ·  Q2 2026  ·  ELIMINATE RISK. INCREASE OPPORTUNITY.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7315200" cy="274320"/>
          </a:xfrm>
          <a:prstGeom prst="rect">
            <a:avLst/>
          </a:prstGeom>
          <a:noFill/>
        </p:spPr>
        <p:txBody>
          <a:bodyPr wrap="square" anchor="t" lIns="0" rIns="0" tIns="0" bIns="0">
            <a:spAutoFit/>
          </a:bodyPr>
          <a:lstStyle/>
          <a:p>
            <a:pPr algn="l"/>
            <a:r>
              <a:rPr sz="1100" b="1">
                <a:solidFill>
                  <a:srgbClr val="0084C9"/>
                </a:solidFill>
                <a:latin typeface="Arial Black"/>
              </a:rPr>
              <a:t>THE ASK</a:t>
            </a:r>
          </a:p>
        </p:txBody>
      </p:sp>
      <p:sp>
        <p:nvSpPr>
          <p:cNvPr id="4" name="TextBox 3"/>
          <p:cNvSpPr txBox="1"/>
          <p:nvPr/>
        </p:nvSpPr>
        <p:spPr>
          <a:xfrm>
            <a:off x="10058400" y="548640"/>
            <a:ext cx="1828800" cy="365760"/>
          </a:xfrm>
          <a:prstGeom prst="rect">
            <a:avLst/>
          </a:prstGeom>
          <a:noFill/>
        </p:spPr>
        <p:txBody>
          <a:bodyPr wrap="square" anchor="t" lIns="0" rIns="0" tIns="0" bIns="0">
            <a:spAutoFit/>
          </a:bodyPr>
          <a:lstStyle/>
          <a:p>
            <a:pPr algn="r"/>
            <a:r>
              <a:rPr sz="1300" b="1">
                <a:solidFill>
                  <a:srgbClr val="FFFFFF"/>
                </a:solidFill>
                <a:latin typeface="Arial Black"/>
              </a:rPr>
              <a:t>BENSON CREW</a:t>
            </a:r>
          </a:p>
        </p:txBody>
      </p:sp>
      <p:sp>
        <p:nvSpPr>
          <p:cNvPr id="5" name="TextBox 4"/>
          <p:cNvSpPr txBox="1"/>
          <p:nvPr/>
        </p:nvSpPr>
        <p:spPr>
          <a:xfrm>
            <a:off x="685800" y="1005840"/>
            <a:ext cx="10972800" cy="2011680"/>
          </a:xfrm>
          <a:prstGeom prst="rect">
            <a:avLst/>
          </a:prstGeom>
          <a:noFill/>
        </p:spPr>
        <p:txBody>
          <a:bodyPr wrap="square" anchor="t" lIns="0" rIns="0" tIns="0" bIns="0">
            <a:spAutoFit/>
          </a:bodyPr>
          <a:lstStyle/>
          <a:p>
            <a:pPr algn="l">
              <a:lnSpc>
                <a:spcPct val="100000"/>
              </a:lnSpc>
            </a:pPr>
            <a:r>
              <a:rPr sz="6000" b="1">
                <a:solidFill>
                  <a:srgbClr val="FFFFFF"/>
                </a:solidFill>
                <a:latin typeface="Arial Black"/>
              </a:rPr>
              <a:t>TOGETHER.</a:t>
            </a:r>
          </a:p>
          <a:p>
            <a:pPr algn="l">
              <a:lnSpc>
                <a:spcPct val="100000"/>
              </a:lnSpc>
            </a:pPr>
            <a:r>
              <a:rPr sz="6000" b="1">
                <a:solidFill>
                  <a:srgbClr val="0084C9"/>
                </a:solidFill>
                <a:latin typeface="Arial Black"/>
              </a:rPr>
              <a:t>UNCHAINED.</a:t>
            </a:r>
          </a:p>
        </p:txBody>
      </p:sp>
      <p:sp>
        <p:nvSpPr>
          <p:cNvPr id="6" name="Rectangle 5"/>
          <p:cNvSpPr/>
          <p:nvPr/>
        </p:nvSpPr>
        <p:spPr>
          <a:xfrm>
            <a:off x="685800" y="4023360"/>
            <a:ext cx="45720" cy="2103120"/>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023360"/>
            <a:ext cx="5303520" cy="320040"/>
          </a:xfrm>
          <a:prstGeom prst="rect">
            <a:avLst/>
          </a:prstGeom>
          <a:noFill/>
        </p:spPr>
        <p:txBody>
          <a:bodyPr wrap="square" anchor="t" lIns="0" rIns="0" tIns="0" bIns="0">
            <a:spAutoFit/>
          </a:bodyPr>
          <a:lstStyle/>
          <a:p>
            <a:pPr algn="l"/>
            <a:r>
              <a:rPr sz="1000" b="1">
                <a:solidFill>
                  <a:srgbClr val="0084C9"/>
                </a:solidFill>
                <a:latin typeface="Arial Black"/>
              </a:rPr>
              <a:t>LEADERSHIP COMMITS TO</a:t>
            </a:r>
          </a:p>
        </p:txBody>
      </p:sp>
      <p:sp>
        <p:nvSpPr>
          <p:cNvPr id="8" name="TextBox 7"/>
          <p:cNvSpPr txBox="1"/>
          <p:nvPr/>
        </p:nvSpPr>
        <p:spPr>
          <a:xfrm>
            <a:off x="914400" y="4434840"/>
            <a:ext cx="5303520" cy="1645920"/>
          </a:xfrm>
          <a:prstGeom prst="rect">
            <a:avLst/>
          </a:prstGeom>
          <a:noFill/>
        </p:spPr>
        <p:txBody>
          <a:bodyPr wrap="square" anchor="t" lIns="0" rIns="0" tIns="0" bIns="0">
            <a:spAutoFit/>
          </a:bodyPr>
          <a:lstStyle/>
          <a:p>
            <a:pPr algn="l"/>
            <a:r>
              <a:rPr sz="1300" b="0">
                <a:solidFill>
                  <a:srgbClr val="EBEBEB"/>
                </a:solidFill>
                <a:latin typeface="Open Sans"/>
              </a:rPr>
              <a:t>Build what the team needs. Ship the systems. Listen to what's broken. Keep investing until the team has more leverage than any agent working alone.</a:t>
            </a:r>
          </a:p>
        </p:txBody>
      </p:sp>
      <p:sp>
        <p:nvSpPr>
          <p:cNvPr id="9" name="Rectangle 8"/>
          <p:cNvSpPr/>
          <p:nvPr/>
        </p:nvSpPr>
        <p:spPr>
          <a:xfrm>
            <a:off x="6400800" y="4023360"/>
            <a:ext cx="45720" cy="2103120"/>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4023360"/>
            <a:ext cx="5303520" cy="320040"/>
          </a:xfrm>
          <a:prstGeom prst="rect">
            <a:avLst/>
          </a:prstGeom>
          <a:noFill/>
        </p:spPr>
        <p:txBody>
          <a:bodyPr wrap="square" anchor="t" lIns="0" rIns="0" tIns="0" bIns="0">
            <a:spAutoFit/>
          </a:bodyPr>
          <a:lstStyle/>
          <a:p>
            <a:pPr algn="l"/>
            <a:r>
              <a:rPr sz="1000" b="1">
                <a:solidFill>
                  <a:srgbClr val="0084C9"/>
                </a:solidFill>
                <a:latin typeface="Arial Black"/>
              </a:rPr>
              <a:t>EVERY ONE OF US COMMITS TO</a:t>
            </a:r>
          </a:p>
        </p:txBody>
      </p:sp>
      <p:sp>
        <p:nvSpPr>
          <p:cNvPr id="11" name="TextBox 10"/>
          <p:cNvSpPr txBox="1"/>
          <p:nvPr/>
        </p:nvSpPr>
        <p:spPr>
          <a:xfrm>
            <a:off x="6629400" y="4434840"/>
            <a:ext cx="5303520" cy="1645920"/>
          </a:xfrm>
          <a:prstGeom prst="rect">
            <a:avLst/>
          </a:prstGeom>
          <a:noFill/>
        </p:spPr>
        <p:txBody>
          <a:bodyPr wrap="square" anchor="t" lIns="0" rIns="0" tIns="0" bIns="0">
            <a:spAutoFit/>
          </a:bodyPr>
          <a:lstStyle/>
          <a:p>
            <a:pPr algn="l"/>
            <a:r>
              <a:rPr sz="1300" b="0">
                <a:solidFill>
                  <a:srgbClr val="EBEBEB"/>
                </a:solidFill>
                <a:latin typeface="Open Sans"/>
              </a:rPr>
              <a:t>Show up. Put it to work. Tell us what's missing. Bring the effort. These systems only work when all of us do.</a:t>
            </a:r>
          </a:p>
        </p:txBody>
      </p:sp>
      <p:sp>
        <p:nvSpPr>
          <p:cNvPr id="12" name="Rectangle 11"/>
          <p:cNvSpPr/>
          <p:nvPr/>
        </p:nvSpPr>
        <p:spPr>
          <a:xfrm>
            <a:off x="457200" y="6446520"/>
            <a:ext cx="320040" cy="36576"/>
          </a:xfrm>
          <a:prstGeom prst="rect">
            <a:avLst/>
          </a:prstGeom>
          <a:solidFill>
            <a:srgbClr val="0084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6400800"/>
            <a:ext cx="10972800" cy="274320"/>
          </a:xfrm>
          <a:prstGeom prst="rect">
            <a:avLst/>
          </a:prstGeom>
          <a:noFill/>
        </p:spPr>
        <p:txBody>
          <a:bodyPr wrap="square" anchor="ctr" lIns="0" rIns="0" tIns="0" bIns="0">
            <a:spAutoFit/>
          </a:bodyPr>
          <a:lstStyle/>
          <a:p>
            <a:pPr algn="r"/>
            <a:r>
              <a:rPr sz="800" b="1">
                <a:solidFill>
                  <a:srgbClr val="0084C9"/>
                </a:solidFill>
                <a:latin typeface="Arial Black"/>
              </a:rPr>
              <a:t>BENSON CREW  ·  Q2 2026  ·  ELIMINATE RISK. INCREASE OPPORTUNITY.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